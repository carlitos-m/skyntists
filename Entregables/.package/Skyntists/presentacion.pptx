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32b2bcc5ee44a8" /><Relationship Type="http://schemas.openxmlformats.org/officeDocument/2006/relationships/extended-properties" Target="/docProps/app.xml" Id="R2462e55978874175" /><Relationship Type="http://schemas.openxmlformats.org/officeDocument/2006/relationships/officeDocument" Target="/ppt/presentation.xml" Id="R304585673144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2885bdbba34f27"/>
  </p:sldMasterIdLst>
  <p:notesMasterIdLst>
    <p:notesMasterId xmlns:r="http://schemas.openxmlformats.org/officeDocument/2006/relationships" r:id="Rb6c9dd18e1814d1c"/>
  </p:notesMasterIdLst>
  <p:sldIdLst>
    <p:sldId xmlns:r="http://schemas.openxmlformats.org/officeDocument/2006/relationships" id="256" r:id="R3601e44d5a1c4c7e"/>
    <p:sldId xmlns:r="http://schemas.openxmlformats.org/officeDocument/2006/relationships" id="257" r:id="Ra0b1c2df8bb74eb4"/>
    <p:sldId xmlns:r="http://schemas.openxmlformats.org/officeDocument/2006/relationships" id="258" r:id="Rcf7c0ab4aa594ac2"/>
    <p:sldId xmlns:r="http://schemas.openxmlformats.org/officeDocument/2006/relationships" id="259" r:id="Rb6e1b5a29db14fea"/>
    <p:sldId xmlns:r="http://schemas.openxmlformats.org/officeDocument/2006/relationships" id="260" r:id="R1e417204eecf4e52"/>
    <p:sldId xmlns:r="http://schemas.openxmlformats.org/officeDocument/2006/relationships" id="261" r:id="R3f94584e2f0b48ca"/>
    <p:sldId xmlns:r="http://schemas.openxmlformats.org/officeDocument/2006/relationships" id="262" r:id="R003b566056344500"/>
    <p:sldId xmlns:r="http://schemas.openxmlformats.org/officeDocument/2006/relationships" id="263" r:id="R5b7255a5415c4c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6926aa5a04336" /><Relationship Type="http://schemas.openxmlformats.org/officeDocument/2006/relationships/slideMaster" Target="/ppt/slideMasters/slideMaster1.xml" Id="R7a2885bdbba34f27" /><Relationship Type="http://schemas.openxmlformats.org/officeDocument/2006/relationships/notesMaster" Target="/ppt/notesMasters/notesMaster1.xml" Id="Rb6c9dd18e1814d1c" /><Relationship Type="http://schemas.openxmlformats.org/officeDocument/2006/relationships/presProps" Target="/ppt/presProps.xml" Id="Rb62a6c1846524e6f" /><Relationship Type="http://schemas.openxmlformats.org/officeDocument/2006/relationships/tableStyles" Target="/ppt/tableStyles.xml" Id="R91ed0a05ebe042b2" /><Relationship Type="http://schemas.openxmlformats.org/officeDocument/2006/relationships/slide" Target="/ppt/slides/slide1.xml" Id="R3601e44d5a1c4c7e" /><Relationship Type="http://schemas.openxmlformats.org/officeDocument/2006/relationships/slide" Target="/ppt/slides/slide2.xml" Id="Ra0b1c2df8bb74eb4" /><Relationship Type="http://schemas.openxmlformats.org/officeDocument/2006/relationships/slide" Target="/ppt/slides/slide3.xml" Id="Rcf7c0ab4aa594ac2" /><Relationship Type="http://schemas.openxmlformats.org/officeDocument/2006/relationships/slide" Target="/ppt/slides/slide4.xml" Id="Rb6e1b5a29db14fea" /><Relationship Type="http://schemas.openxmlformats.org/officeDocument/2006/relationships/slide" Target="/ppt/slides/slide5.xml" Id="R1e417204eecf4e52" /><Relationship Type="http://schemas.openxmlformats.org/officeDocument/2006/relationships/slide" Target="/ppt/slides/slide6.xml" Id="R3f94584e2f0b48ca" /><Relationship Type="http://schemas.openxmlformats.org/officeDocument/2006/relationships/slide" Target="/ppt/slides/slide7.xml" Id="R003b566056344500" /><Relationship Type="http://schemas.openxmlformats.org/officeDocument/2006/relationships/slide" Target="/ppt/slides/slide8.xml" Id="R5b7255a5415c4c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b7298478f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96d25b23047a6" /><Relationship Type="http://schemas.openxmlformats.org/officeDocument/2006/relationships/notesMaster" Target="/ppt/notesMasters/notesMaster1.xml" Id="Rfa5cf5ec5e41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63e7455a564149" /><Relationship Type="http://schemas.openxmlformats.org/officeDocument/2006/relationships/notesMaster" Target="/ppt/notesMasters/notesMaster1.xml" Id="Rf6e3395ccc424c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fa8c8e7344cb6" /><Relationship Type="http://schemas.openxmlformats.org/officeDocument/2006/relationships/notesMaster" Target="/ppt/notesMasters/notesMaster1.xml" Id="Rc2b6b9a43ead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58230bb785464c" /><Relationship Type="http://schemas.openxmlformats.org/officeDocument/2006/relationships/notesMaster" Target="/ppt/notesMasters/notesMaster1.xml" Id="R18f0e2672ad74f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4981b63ca34fcd" /><Relationship Type="http://schemas.openxmlformats.org/officeDocument/2006/relationships/notesMaster" Target="/ppt/notesMasters/notesMaster1.xml" Id="Ref03560bd7a843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f2e153a26a4f6d" /><Relationship Type="http://schemas.openxmlformats.org/officeDocument/2006/relationships/notesMaster" Target="/ppt/notesMasters/notesMaster1.xml" Id="R30cd766fc58b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65f1aa7f6e4ef5" /><Relationship Type="http://schemas.openxmlformats.org/officeDocument/2006/relationships/notesMaster" Target="/ppt/notesMasters/notesMaster1.xml" Id="R0d277b64f27a42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d81c9b05ee4e40" /><Relationship Type="http://schemas.openxmlformats.org/officeDocument/2006/relationships/notesMaster" Target="/ppt/notesMasters/notesMaster1.xml" Id="R9bdd44e6bcf9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Apertura, 20 s. Presentamos un análisis reproducible de espectros calibrados. La conclusión es compatibilidad tentativa, no detección confirmada.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Contexto: Jørgensen et al. 2016, A&amp;A 595 A117 (PILS), https://arxiv.org/abs/1607.08733. Relevancia astrobiológica significa química prebiótica posible, no evidencia de vida.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archivos CSV y cubos FITS entregados. La prueba de coherencia reduce riesgo de usar el píxel equivocado; no certifica calibración absoluta.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indica aplicar v=2.7 km/s a B una sola vez. El MAD de primeras diferencias no reemplaza medición en varios intervalos line-free. Un ajuste local no resuelve blends complejos.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seis perfiles corresponden a tres transiciones por hipótesis. Referirse a la tabla del CSV para frecuencia, centro, FWHM, sigma y decisiones. Los perfiles se ajustan localmente; el rasgo W2 en 349343 MHz muestra baseline negativo.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Tabla editable. Entrada del catálogo local CDMS 41505. Los centros medidos y ajustes vienen del CSV generado por notebook. El SNR alto es contraste local; no es confianza de identidad. La glicina no se declara detectada.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lo advierte explícitamente: la columna de intensidad a 300 K no equivale a Aij. Consultar documentación de la transición exacta y versionar los datos. No inventar coeficientes.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Siguiente prioridad para puntaje: fortalecer incertidumbre, alternativas moleculares y defensa. Recomendación exploratoria: evaluar Spectuner (Qiu et al. 2024, https://doi.org/10.48550/arxiv.2408.06004), pero validar en este conjunto; métricas publicadas en otros sondeos no se transfieren. Fuentes: PILS https://arxiv.org/abs/1607.08733; ALMA data acknowledgement https://almascience.eso.org/alma-data/publication-acknowledgement. Dejar espacio a 3 min de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03b60e99f45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9641aac3b44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31016dfe149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1a17a64b844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98584e48d40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d388a301e4e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E510F-AEE7-4A52-B20E-0AE8FD2DE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5F5D08-69D0-479D-8D58-80C5A4A55C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2B7BE8-77AE-489B-8D9D-A3B3769B9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7234D0-2624-43C5-B608-4D47FE52D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7C6E1E-0A53-4A30-8E47-E3BB1FE6E7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E54CD1-1945-43DC-B198-BDAFE4689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CD690B-42E3-4D57-AFC9-DDDE72A67B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848B1A-06B5-4997-B583-6F118151AE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C1BEDA-63EF-4EAA-B03B-CE4EA3EFB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1ADE6F-8A1E-4A10-8336-D976BF76A9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a460b711c4a9e" /><Relationship Type="http://schemas.openxmlformats.org/officeDocument/2006/relationships/slideLayout" Target="/ppt/slideLayouts/slideLayout1.xml" Id="R763e959bebff4502" /><Relationship Type="http://schemas.openxmlformats.org/officeDocument/2006/relationships/slideLayout" Target="/ppt/slideLayouts/slideLayout2.xml" Id="R51e926197e894445" /><Relationship Type="http://schemas.openxmlformats.org/officeDocument/2006/relationships/slideLayout" Target="/ppt/slideLayouts/slideLayout3.xml" Id="R1f0177820e544bb1" /><Relationship Type="http://schemas.openxmlformats.org/officeDocument/2006/relationships/slideLayout" Target="/ppt/slideLayouts/slideLayout4.xml" Id="R18f18484c1944409" /><Relationship Type="http://schemas.openxmlformats.org/officeDocument/2006/relationships/slideLayout" Target="/ppt/slideLayouts/slideLayout5.xml" Id="R4dba8d21a3894f12" /><Relationship Type="http://schemas.openxmlformats.org/officeDocument/2006/relationships/slideLayout" Target="/ppt/slideLayouts/slideLayout6.xml" Id="Rb0a65c2882034f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3e959bebff4502"/>
    <p:sldLayoutId xmlns:r="http://schemas.openxmlformats.org/officeDocument/2006/relationships" id="2147483650" r:id="R51e926197e894445"/>
    <p:sldLayoutId xmlns:r="http://schemas.openxmlformats.org/officeDocument/2006/relationships" id="2147483651" r:id="R1f0177820e544bb1"/>
    <p:sldLayoutId xmlns:r="http://schemas.openxmlformats.org/officeDocument/2006/relationships" id="2147483652" r:id="R18f18484c1944409"/>
    <p:sldLayoutId xmlns:r="http://schemas.openxmlformats.org/officeDocument/2006/relationships" id="2147483653" r:id="R4dba8d21a3894f12"/>
    <p:sldLayoutId xmlns:r="http://schemas.openxmlformats.org/officeDocument/2006/relationships" id="2147483654" r:id="Rb0a65c2882034f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809b9c8914636" /><Relationship Type="http://schemas.openxmlformats.org/officeDocument/2006/relationships/notesSlide" Target="/ppt/notesSlides/notesSlide1.xml" Id="R97f4663fadfa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6ee047d0741cb" /><Relationship Type="http://schemas.openxmlformats.org/officeDocument/2006/relationships/notesSlide" Target="/ppt/notesSlides/notesSlide2.xml" Id="R45c916b8e604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713a33b0348d0" /><Relationship Type="http://schemas.openxmlformats.org/officeDocument/2006/relationships/chart" Target="/ppt/slides/charts/chart1.xml" Id="R89b45116c7b94228" /><Relationship Type="http://schemas.openxmlformats.org/officeDocument/2006/relationships/notesSlide" Target="/ppt/notesSlides/notesSlide3.xml" Id="R87ae8e42c4b847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4cc1abc5a49b5" /><Relationship Type="http://schemas.openxmlformats.org/officeDocument/2006/relationships/notesSlide" Target="/ppt/notesSlides/notesSlide4.xml" Id="R023961e03c9442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5e3740f0146ec" /><Relationship Type="http://schemas.openxmlformats.org/officeDocument/2006/relationships/image" Target="/ppt/media/image.png" Id="R4975fa5d4d2d4c28" /><Relationship Type="http://schemas.openxmlformats.org/officeDocument/2006/relationships/notesSlide" Target="/ppt/notesSlides/notesSlide5.xml" Id="R64462168a70f4a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003ad19a8492b" /><Relationship Type="http://schemas.openxmlformats.org/officeDocument/2006/relationships/notesSlide" Target="/ppt/notesSlides/notesSlide6.xml" Id="Rad69c5471570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7655162a3403c" /><Relationship Type="http://schemas.openxmlformats.org/officeDocument/2006/relationships/notesSlide" Target="/ppt/notesSlides/notesSlide7.xml" Id="R0431b150508547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7f9cd3b824a47" /><Relationship Type="http://schemas.openxmlformats.org/officeDocument/2006/relationships/notesSlide" Target="/ppt/notesSlides/notesSlide8.xml" Id="R70f4428dc3984c2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 · B_offset</a:t>
            </a:r>
          </a:p>
        </c:rich>
      </c:tx>
      <c:overlay val="0"/>
    </c:title>
    <c:plotArea>
      <c:lineChart>
        <c:grouping val="standard"/>
        <c:varyColors val="0"/>
        <c:ser>
          <c:idx val="0"/>
          <c:order val="0"/>
          <c:tx>
            <c:v>B_offset</c:v>
          </c:tx>
          <c:spPr>
            <a:ln xmlns:a="http://schemas.openxmlformats.org/drawingml/2006/main" w="14288">
              <a:solidFill>
                <a:srgbClr val="137C8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0"/>
              <c:pt idx="0">
                <c:v>348.83</c:v>
              </c:pt>
              <c:pt idx="1">
                <c:v>348.85</c:v>
              </c:pt>
              <c:pt idx="2">
                <c:v>348.87</c:v>
              </c:pt>
              <c:pt idx="3">
                <c:v>348.88</c:v>
              </c:pt>
              <c:pt idx="4">
                <c:v>348.90</c:v>
              </c:pt>
              <c:pt idx="5">
                <c:v>348.91</c:v>
              </c:pt>
              <c:pt idx="6">
                <c:v>348.93</c:v>
              </c:pt>
              <c:pt idx="7">
                <c:v>348.94</c:v>
              </c:pt>
              <c:pt idx="8">
                <c:v>348.96</c:v>
              </c:pt>
              <c:pt idx="9">
                <c:v>348.98</c:v>
              </c:pt>
              <c:pt idx="10">
                <c:v>348.99</c:v>
              </c:pt>
              <c:pt idx="11">
                <c:v>349.01</c:v>
              </c:pt>
              <c:pt idx="12">
                <c:v>349.02</c:v>
              </c:pt>
              <c:pt idx="13">
                <c:v>349.04</c:v>
              </c:pt>
              <c:pt idx="14">
                <c:v>349.05</c:v>
              </c:pt>
              <c:pt idx="15">
                <c:v>349.07</c:v>
              </c:pt>
              <c:pt idx="16">
                <c:v>349.08</c:v>
              </c:pt>
              <c:pt idx="17">
                <c:v>349.10</c:v>
              </c:pt>
              <c:pt idx="18">
                <c:v>349.12</c:v>
              </c:pt>
              <c:pt idx="19">
                <c:v>349.13</c:v>
              </c:pt>
              <c:pt idx="20">
                <c:v>349.15</c:v>
              </c:pt>
              <c:pt idx="21">
                <c:v>349.16</c:v>
              </c:pt>
              <c:pt idx="22">
                <c:v>349.18</c:v>
              </c:pt>
              <c:pt idx="23">
                <c:v>349.19</c:v>
              </c:pt>
              <c:pt idx="24">
                <c:v>349.21</c:v>
              </c:pt>
              <c:pt idx="25">
                <c:v>349.23</c:v>
              </c:pt>
              <c:pt idx="26">
                <c:v>349.24</c:v>
              </c:pt>
              <c:pt idx="27">
                <c:v>349.26</c:v>
              </c:pt>
              <c:pt idx="28">
                <c:v>349.27</c:v>
              </c:pt>
              <c:pt idx="29">
                <c:v>349.29</c:v>
              </c:pt>
            </c:numLit>
          </c:cat>
          <c:val>
            <c:numLit>
              <c:formatCode>General</c:formatCode>
              <c:ptCount val="30"/>
              <c:pt idx="0">
                <c:v>-0.0379191488</c:v>
              </c:pt>
              <c:pt idx="1">
                <c:v>0.01527300663</c:v>
              </c:pt>
              <c:pt idx="2">
                <c:v>-0.03310177848</c:v>
              </c:pt>
              <c:pt idx="3">
                <c:v>-0.03173648939</c:v>
              </c:pt>
              <c:pt idx="4">
                <c:v>0.1631615758</c:v>
              </c:pt>
              <c:pt idx="5">
                <c:v>0.3508683443</c:v>
              </c:pt>
              <c:pt idx="6">
                <c:v>-0.02623856813</c:v>
              </c:pt>
              <c:pt idx="7">
                <c:v>0.02389525995</c:v>
              </c:pt>
              <c:pt idx="8">
                <c:v>-0.002385627711</c:v>
              </c:pt>
              <c:pt idx="9">
                <c:v>-0.05143203959</c:v>
              </c:pt>
              <c:pt idx="10">
                <c:v>-0.001258870238</c:v>
              </c:pt>
              <c:pt idx="11">
                <c:v>0.009441226721</c:v>
              </c:pt>
              <c:pt idx="12">
                <c:v>0.501932621</c:v>
              </c:pt>
              <c:pt idx="13">
                <c:v>0.1705798805</c:v>
              </c:pt>
              <c:pt idx="14">
                <c:v>0.373516202</c:v>
              </c:pt>
              <c:pt idx="15">
                <c:v>0.05566462129</c:v>
              </c:pt>
              <c:pt idx="16">
                <c:v>0.00578525383</c:v>
              </c:pt>
              <c:pt idx="17">
                <c:v>-0.005177474581</c:v>
              </c:pt>
              <c:pt idx="18">
                <c:v>0.0694206208</c:v>
              </c:pt>
              <c:pt idx="19">
                <c:v>0.02212148532</c:v>
              </c:pt>
              <c:pt idx="20">
                <c:v>0.4208483994</c:v>
              </c:pt>
              <c:pt idx="21">
                <c:v>-0.0005552372313</c:v>
              </c:pt>
              <c:pt idx="22">
                <c:v>-0.02004167624</c:v>
              </c:pt>
              <c:pt idx="23">
                <c:v>0.04903698713</c:v>
              </c:pt>
              <c:pt idx="24">
                <c:v>0.8059847951</c:v>
              </c:pt>
              <c:pt idx="25">
                <c:v>0.08397831023</c:v>
              </c:pt>
              <c:pt idx="26">
                <c:v>0.01159682404</c:v>
              </c:pt>
              <c:pt idx="27">
                <c:v>-0.002341225278</c:v>
              </c:pt>
              <c:pt idx="28">
                <c:v>0.1624719501</c:v>
              </c:pt>
              <c:pt idx="29">
                <c:v>0.001121785375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Frecuencia LSRK (GHz)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Intensidad (Jy/beam)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E14F2-5DC0-44DD-A11A-9CFA3A4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6DD3D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DD3D0"/>
                </a:solidFill>
              </a:defRPr>
            </a:pPr>
            <a:r>
              <a:rPr sz="1350" b="1">
                <a:solidFill>
                  <a:srgbClr val="6DD3D0"/>
                </a:solidFill>
              </a:rPr>
              <a:t>SKYNTISTS  /  ASTROHACK SATEM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14FCD-CEBC-441C-9D52-A8C5206E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¿Qué moléculas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son compatibles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 el espectro?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26B91-1579-4417-B6D2-4E9F0C8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C9D9E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9D9E5"/>
                </a:solidFill>
              </a:defRPr>
            </a:pPr>
            <a:r>
              <a:rPr sz="1875" b="0">
                <a:solidFill>
                  <a:srgbClr val="C9D9E5"/>
                </a:solidFill>
              </a:rPr>
              <a:t>IRAS 16293−2422 B · ventanas ALMA W1/W2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D06F8-BDF7-4385-BE56-38A4FE73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DD3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DD3D0"/>
                </a:solidFill>
              </a:defRPr>
            </a:pPr>
            <a:r>
              <a:rPr sz="1650" b="0">
                <a:solidFill>
                  <a:srgbClr val="6DD3D0"/>
                </a:solidFill>
              </a:rPr>
              <a:t>Resultado: hipótesis tentativas, evidencia trazable y límites explícitos</a:t>
            </a:r>
          </a:p>
        </p:txBody>
      </p:sp>
    </p:spTree>
    <p:extLst>
      <p:ext uri="{BB962C8B-B14F-4D97-AF65-F5344CB8AC3E}">
        <p14:creationId xmlns:p14="http://schemas.microsoft.com/office/powerpoint/2010/main" val="599735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1FF30-2440-4B88-925A-A7BD16F9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2484A-B3D1-446F-A1A7-B0F5DC1D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Pregunta y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F7972-1475-4B9B-AB3A-6FBF870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Identificar evidencia espectral sin confundir coincidencia con detección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E6F70-F028-4969-9D57-28BD022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¿Hay varias transiciones coherentes con moléculas de interés prebiótico?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61893-7DF3-42FA-AFCB-2C93BDE8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143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24A"/>
                </a:solidFill>
              </a:defRPr>
            </a:pPr>
            <a:r>
              <a:rPr sz="1725" b="0">
                <a:solidFill>
                  <a:srgbClr val="18324A"/>
                </a:solidFill>
              </a:rPr>
              <a:t>IRAS 16293−2422 es una protoestrella estudiada en el sondeo PILS. Buscamos rasgos de CH₃CN y CH₃CHO; se evalúa glicina-I como caso de control difícil.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FD05C-65CC-4F7C-8FAE-60B4E038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D9774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7745"/>
                </a:solidFill>
              </a:defRPr>
            </a:pPr>
            <a:r>
              <a:rPr sz="2550" b="1">
                <a:solidFill>
                  <a:srgbClr val="D97745"/>
                </a:solidFill>
              </a:rPr>
              <a:t>Una señal compatible no implica origen biológico.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EED0F-6548-4E10-AEB3-8101078E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7C8B"/>
                </a:solidFill>
              </a:defRPr>
            </a:pPr>
            <a:r>
              <a:rPr sz="1800" b="1">
                <a:solidFill>
                  <a:srgbClr val="137C8B"/>
                </a:solidFill>
              </a:rPr>
              <a:t>Criterio: frecuencia + perfil + líneas múltiples + alternativas + límites.</a:t>
            </a:r>
          </a:p>
        </p:txBody>
      </p:sp>
    </p:spTree>
    <p:extLst>
      <p:ext uri="{BB962C8B-B14F-4D97-AF65-F5344CB8AC3E}">
        <p14:creationId xmlns:p14="http://schemas.microsoft.com/office/powerpoint/2010/main" val="130218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63BFA-1902-41B2-A55F-CF624118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21E95-57BE-496D-9FA3-930FA9D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Datos y control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74ED9-1099-4771-8CC9-011DE03E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B_offset · LSRK · Jy/beam · 1918 canales por ventana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9BA1E93-43F2-4900-9332-F2E0216813E4}"/>
              </a:ext>
            </a:extLst>
          </p:cNvPr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b45116c7b942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EF63A-4833-41FE-980F-2D1A4DC8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7C8B"/>
                </a:solidFill>
              </a:defRPr>
            </a:pPr>
            <a:r>
              <a:rPr sz="1875" b="1">
                <a:solidFill>
                  <a:srgbClr val="137C8B"/>
                </a:solidFill>
              </a:rPr>
              <a:t>Verificación automatizada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F3AB9-50DE-49E3-8F61-7D4D58E9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3333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24A"/>
                </a:solidFill>
              </a:defRPr>
            </a:pPr>
            <a:r>
              <a:rPr sz="1650" b="0">
                <a:solidFill>
                  <a:srgbClr val="18324A"/>
                </a:solidFill>
              </a:rPr>
              <a:t>CSV cotejado canal a canal con el píxel FITS (x,y)=(54,46).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24A"/>
                </a:solidFill>
              </a:defRPr>
            </a:pPr>
            <a:r>
              <a:rPr sz="1650" b="0">
                <a:solidFill>
                  <a:srgbClr val="18324A"/>
                </a:solidFill>
              </a:rPr>
              <a:t>W1/W2: unidades Jy/beam y marco LSRK.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24A"/>
                </a:solidFill>
              </a:defRPr>
            </a:pPr>
            <a:r>
              <a:rPr sz="1650" b="0">
                <a:solidFill>
                  <a:srgbClr val="18324A"/>
                </a:solidFill>
              </a:rPr>
              <a:t>Es una validación de extracción, no una recalibración.</a:t>
            </a:r>
          </a:p>
        </p:txBody>
      </p:sp>
    </p:spTree>
    <p:extLst>
      <p:ext uri="{BB962C8B-B14F-4D97-AF65-F5344CB8AC3E}">
        <p14:creationId xmlns:p14="http://schemas.microsoft.com/office/powerpoint/2010/main" val="1382107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6DA4C-45F1-443E-819C-507EA23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84CCE-9DA0-42F5-93A4-6F1AF904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Flujo de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BAA65-A5D4-4A48-8B65-D687A18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Una convención Doppler · asociaciones agrupadas · ajustes descriptivos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80035-3545-4520-9396-D7A90AF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C8B"/>
                </a:solidFill>
              </a:defRPr>
            </a:pPr>
            <a:r>
              <a:rPr sz="2100" b="1">
                <a:solidFill>
                  <a:srgbClr val="137C8B"/>
                </a:solidFill>
              </a:rPr>
              <a:t>1  Inspección y detección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3EBD8-798D-4380-92DA-4701E983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C8B"/>
                </a:solidFill>
              </a:defRPr>
            </a:pPr>
            <a:r>
              <a:rPr sz="2100" b="1">
                <a:solidFill>
                  <a:srgbClr val="137C8B"/>
                </a:solidFill>
              </a:rPr>
              <a:t>2  Estimar ruido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C5972-C2A7-41A2-BB9B-98209F09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37C8B"/>
                </a:solidFill>
              </a:defRPr>
            </a:pPr>
            <a:r>
              <a:rPr sz="1950" b="1">
                <a:solidFill>
                  <a:srgbClr val="137C8B"/>
                </a:solidFill>
              </a:rPr>
              <a:t>3  Asociar catálogo a v=2.7 km/s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C50C7-3E16-43B1-A72F-736F4658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37C8B"/>
                </a:solidFill>
              </a:defRPr>
            </a:pPr>
            <a:r>
              <a:rPr sz="1950" b="1">
                <a:solidFill>
                  <a:srgbClr val="137C8B"/>
                </a:solidFill>
              </a:rPr>
              <a:t>4  Ajustar gaussiana +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C28F4-D64F-4564-A648-9C7535F4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νobs = νrest (1 − vradio/c)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459AB-04C4-4A6A-B5AE-4140A1F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24A"/>
                </a:solidFill>
              </a:defRPr>
            </a:pPr>
            <a:r>
              <a:rPr sz="1800" b="0">
                <a:solidFill>
                  <a:srgbClr val="18324A"/>
                </a:solidFill>
              </a:rPr>
              <a:t>64 rasgos agrupados ↔ 107 filas asociadas; varias filas pueden ser blends, no detecciones independientes.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F3A81-A8DB-4578-9A35-8123BE35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D9774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7745"/>
                </a:solidFill>
              </a:defRPr>
            </a:pPr>
            <a:r>
              <a:rPr sz="1575" b="1">
                <a:solidFill>
                  <a:srgbClr val="D97745"/>
                </a:solidFill>
              </a:rPr>
              <a:t>Ruido por MAD de diferencias: aproximado; canales correlacionados y baseline limitan el SNR.</a:t>
            </a:r>
          </a:p>
        </p:txBody>
      </p:sp>
    </p:spTree>
    <p:extLst>
      <p:ext uri="{BB962C8B-B14F-4D97-AF65-F5344CB8AC3E}">
        <p14:creationId xmlns:p14="http://schemas.microsoft.com/office/powerpoint/2010/main" val="1488117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48AC-CF6B-4D22-B088-BA4B50E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DC9D8-4F1C-4CA9-A6AA-8B3CFA0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Seis perfiles tentativos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B1EC3-70BE-4CB4-9004-5884B740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La forma respalda una asociación; no certifica especie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30FB7-A226-4B6C-B1BD-CBB4EA3BC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5fa5d4d2d4c28"/>
          <a:stretch xmlns:a="http://schemas.openxmlformats.org/drawingml/2006/main"/>
        </p:blipFill>
        <p:spPr>
          <a:xfrm xmlns:a="http://schemas.openxmlformats.org/drawingml/2006/main">
            <a:off x="3204210" y="1666875"/>
            <a:ext cx="578358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71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4A0B7-37C0-448B-A49D-D24F1F8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E938D-8C94-4A4E-814F-77F0C3D1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Qué sostiene y qué limita la identificación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A3424-E789-42B9-8EA3-72100F43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CDMS 41505 · compatibilidad intermedia; identificación molecular baja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F537C-E367-465B-BA81-BEB6CD834E7C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6063"/>
                <a:gridCol w="2786063"/>
                <a:gridCol w="2786063"/>
                <a:gridCol w="2786063"/>
              </a:tblGrid>
              <a:tr h="585107">
                <a:tc>
                  <a:txBody>
                    <a:bodyPr/>
                    <a:lstStyle/>
                    <a:p>
                      <a:r>
                        <a:t>Especie / ventana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νrest MHz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νfit MHz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FWHM km/s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CH₃CN · W1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349024.971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349021.937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1.02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CH₃CN · W1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349125.287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349122.257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1.17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CH₃CN · W2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349346.343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349343.491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1.92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CH₃CHO · W1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348855.571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348852.530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1.14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CH₃CHO · W2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349320.352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349317.491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1.27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CH₃CHO · W2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349755.702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349753.005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2.32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E51F7-F609-4B87-8BAE-DE21209F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D9774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7745"/>
                </a:solidFill>
              </a:defRPr>
            </a:pPr>
            <a:r>
              <a:rPr sz="1575" b="1">
                <a:solidFill>
                  <a:srgbClr val="D97745"/>
                </a:solidFill>
              </a:rPr>
              <a:t>Glicina-I: insuficiente. No se separa de forma independiente de alternativas/blends.</a:t>
            </a:r>
          </a:p>
        </p:txBody>
      </p:sp>
    </p:spTree>
    <p:extLst>
      <p:ext uri="{BB962C8B-B14F-4D97-AF65-F5344CB8AC3E}">
        <p14:creationId xmlns:p14="http://schemas.microsoft.com/office/powerpoint/2010/main" val="1059759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BF586-088E-45F4-B3D8-9176993E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95D0C-1898-487B-B2EB-9926F4F0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La química requiere el catálogo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8AEBB-A948-4E0E-8026-8B949C6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Einstein Aij ayuda a modelar emisión; no es “puntaje de detección”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6A677-462F-4DE0-9D74-97690D4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Aij (s⁻¹) describe la probabilidad de emisión espontánea por unidad de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5C11C-1465-460A-AE1B-636D6F65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24A"/>
                </a:solidFill>
              </a:defRPr>
            </a:pPr>
            <a:r>
              <a:rPr sz="1875" b="0">
                <a:solidFill>
                  <a:srgbClr val="18324A"/>
                </a:solidFill>
              </a:rPr>
              <a:t>Con degeneraciones, energías, temperatura y función de partición alimenta modelos de excitación y transferencia radiativa.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F319E-1E87-4D47-AE6D-73B74510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D97745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7745"/>
                </a:solidFill>
              </a:defRPr>
            </a:pPr>
            <a:r>
              <a:rPr sz="2025" b="1">
                <a:solidFill>
                  <a:srgbClr val="D97745"/>
                </a:solidFill>
              </a:rPr>
              <a:t>En nuestros archivos Aij no está incluido. log10_I_300K_nm2_MHz ≠ log10(Aij).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EC5B4-8FF7-46E1-88A3-570C9624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7C8B"/>
                </a:solidFill>
              </a:defRPr>
            </a:pPr>
            <a:r>
              <a:rPr sz="1725" b="1">
                <a:solidFill>
                  <a:srgbClr val="137C8B"/>
                </a:solidFill>
              </a:rPr>
              <a:t>Mejora ejecutable: recuperar parámetros exactos CDMS/JPL y modelar varias líneas con LTE/no-LTE; comprobar blends.</a:t>
            </a:r>
          </a:p>
        </p:txBody>
      </p:sp>
    </p:spTree>
    <p:extLst>
      <p:ext uri="{BB962C8B-B14F-4D97-AF65-F5344CB8AC3E}">
        <p14:creationId xmlns:p14="http://schemas.microsoft.com/office/powerpoint/2010/main" val="469174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35013-B37D-4816-A02F-2829CFED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16EED-EEA8-40EC-A16A-4A553AA3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Cierre: evidencia honesta y siguientes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056EE-96C3-42BB-A6C2-070AFEF0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7C8B"/>
                </a:solidFill>
              </a:defRPr>
            </a:pPr>
            <a:r>
              <a:rPr sz="1425" b="1">
                <a:solidFill>
                  <a:srgbClr val="137C8B"/>
                </a:solidFill>
              </a:rPr>
              <a:t>Skyntists · 5 min + 3 min de preguntas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0B987-ECC0-4A64-9CB5-0CA11015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7C8B"/>
                </a:solidFill>
              </a:defRPr>
            </a:pPr>
            <a:r>
              <a:rPr sz="1800" b="1">
                <a:solidFill>
                  <a:srgbClr val="137C8B"/>
                </a:solidFill>
              </a:rPr>
              <a:t>Hallazgo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DEF28-F316-40B7-80B7-E427316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6 perfiles compatibles con CH₃CN/CH₃CHO; glicina-I insuficiente.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CE4B4-6D81-42AF-9C4B-82E31FCC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7C8B"/>
                </a:solidFill>
              </a:defRPr>
            </a:pPr>
            <a:r>
              <a:rPr sz="1800" b="1">
                <a:solidFill>
                  <a:srgbClr val="137C8B"/>
                </a:solidFill>
              </a:rPr>
              <a:t>Prioridad científica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431F3-7281-4AF8-BC57-2C30C5E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Medir ruido en segmentos line-free, modelar líneas mezcladas y contrastar transiciones independientes con catálogo completo.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85A8F-C1B8-4267-A651-6C0AAD4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D9774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7745"/>
                </a:solidFill>
              </a:defRPr>
            </a:pPr>
            <a:r>
              <a:rPr sz="1575" b="1">
                <a:solidFill>
                  <a:srgbClr val="D97745"/>
                </a:solidFill>
              </a:rPr>
              <a:t>Aportes individuales del equipo: pendientes de completar por cada integrante. Codex ayudó en automatización, figuras y borrador; equipo debe revisar y declarar contenido retenido.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B0E4-DCCC-4254-BD6C-44B507A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1">
                <a:solidFill>
                  <a:srgbClr val="137C8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7C8B"/>
                </a:solidFill>
              </a:defRPr>
            </a:pPr>
            <a:r>
              <a:rPr sz="1875" b="1">
                <a:solidFill>
                  <a:srgbClr val="137C8B"/>
                </a:solidFill>
              </a:rPr>
              <a:t>Gracias · preguntas</a:t>
            </a:r>
          </a:p>
        </p:txBody>
      </p:sp>
    </p:spTree>
    <p:extLst>
      <p:ext uri="{BB962C8B-B14F-4D97-AF65-F5344CB8AC3E}">
        <p14:creationId xmlns:p14="http://schemas.microsoft.com/office/powerpoint/2010/main" val="1245389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2026-10-11T10:28:53.1450000Z</dcterms:created>
  <dcterms:modified xsi:type="dcterms:W3CDTF">2026-10-11T10:28:53.1450000Z</dcterms:modified>
</coreProperties>
</file>